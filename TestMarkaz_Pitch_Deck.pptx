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Georgia"/>
              </a:rPr>
              <a:t>Uzbek student population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(millions)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Primary 1-4</c:v>
                  </c:pt>
                  <c:pt idx="1">
                    <c:v>Middle 5-9</c:v>
                  </c:pt>
                  <c:pt idx="2">
                    <c:v>Senior 10-11</c:v>
                  </c:pt>
                  <c:pt idx="3">
                    <c:v>Abituriyent</c:v>
                  </c:pt>
                  <c:pt idx="4">
                    <c:v>University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</c:v>
                </c:pt>
                <c:pt idx="1">
                  <c:v>2.6</c:v>
                </c:pt>
                <c:pt idx="2">
                  <c:v>0.9</c:v>
                </c:pt>
                <c:pt idx="3">
                  <c:v>1.2</c:v>
                </c:pt>
                <c:pt idx="4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Georgia"/>
              </a:rPr>
              <a:t>Revenue mix at month 12 (USD)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8C42"/>
              </a:solidFill>
              <a:effectLst/>
            </c:spPr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bubble3D val="0"/>
            <c:spPr>
              <a:solidFill>
                <a:srgbClr val="131A47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Premium monthly</c:v>
                </c:pt>
                <c:pt idx="1">
                  <c:v>Premium yearly</c:v>
                </c:pt>
                <c:pt idx="2">
                  <c:v>Tutor Pro</c:v>
                </c:pt>
                <c:pt idx="3">
                  <c:v>Centers</c:v>
                </c:pt>
                <c:pt idx="4">
                  <c:v>AI credits</c:v>
                </c:pt>
                <c:pt idx="5">
                  <c:v>Ads + mocks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3700</c:v>
                </c:pt>
                <c:pt idx="1">
                  <c:v>530</c:v>
                </c:pt>
                <c:pt idx="2">
                  <c:v>400</c:v>
                </c:pt>
                <c:pt idx="3">
                  <c:v>3020</c:v>
                </c:pt>
                <c:pt idx="4">
                  <c:v>5990</c:v>
                </c:pt>
                <c:pt idx="5">
                  <c:v>2140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Georgia"/>
              </a:rPr>
              <a:t>MAU and paying-user trajectory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200</c:v>
                </c:pt>
                <c:pt idx="1">
                  <c:v>290</c:v>
                </c:pt>
                <c:pt idx="2">
                  <c:v>421</c:v>
                </c:pt>
                <c:pt idx="3">
                  <c:v>610</c:v>
                </c:pt>
                <c:pt idx="4">
                  <c:v>884</c:v>
                </c:pt>
                <c:pt idx="5">
                  <c:v>1282</c:v>
                </c:pt>
                <c:pt idx="6">
                  <c:v>1859</c:v>
                </c:pt>
                <c:pt idx="7">
                  <c:v>2695</c:v>
                </c:pt>
                <c:pt idx="8">
                  <c:v>3908</c:v>
                </c:pt>
                <c:pt idx="9">
                  <c:v>5666</c:v>
                </c:pt>
                <c:pt idx="10">
                  <c:v>8215</c:v>
                </c:pt>
                <c:pt idx="11">
                  <c:v>11912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Paying users</c:v>
                </c:pt>
              </c:strCache>
            </c:strRef>
          </c:tx>
          <c:spPr>
            <a:solidFill>
              <a:srgbClr val="FF8C42"/>
            </a:solidFill>
            <a:ln w="38100" cap="flat">
              <a:solidFill>
                <a:srgbClr val="FF8C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8C42"/>
              </a:solidFill>
              <a:ln w="9525" cap="flat">
                <a:solidFill>
                  <a:srgbClr val="FF8C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</c:v>
                </c:pt>
                <c:pt idx="1">
                  <c:v>12</c:v>
                </c:pt>
                <c:pt idx="2">
                  <c:v>17</c:v>
                </c:pt>
                <c:pt idx="3">
                  <c:v>24</c:v>
                </c:pt>
                <c:pt idx="4">
                  <c:v>35</c:v>
                </c:pt>
                <c:pt idx="5">
                  <c:v>51</c:v>
                </c:pt>
                <c:pt idx="6">
                  <c:v>74</c:v>
                </c:pt>
                <c:pt idx="7">
                  <c:v>108</c:v>
                </c:pt>
                <c:pt idx="8">
                  <c:v>156</c:v>
                </c:pt>
                <c:pt idx="9">
                  <c:v>227</c:v>
                </c:pt>
                <c:pt idx="10">
                  <c:v>329</c:v>
                </c:pt>
                <c:pt idx="11">
                  <c:v>476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TestMarkaz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exam preparation for the next generation of Uzbek students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/ Stakeholder Deck  •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 students prepare for life-defining exams with broken tools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840480" y="2194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abituriyents apply for university each year; only ~40% are admitted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9728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 UZS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840480" y="3154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single in-person tutoring session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9728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23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840480" y="4114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paper textbooks a typical 11th-grader juggles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9728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840480" y="5074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Uzbek-language exam-prep platforms exist today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852160"/>
            <a:ext cx="109728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turns any textbook into an adaptive study companion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66160" cy="39319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3566160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PDF/DOCX/EPUB textbooks. AI extracts chapters, embeds content into a vector database for semantic search.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566160" cy="39319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103120"/>
            <a:ext cx="3566160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33172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496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MCQs, flashcards, mock exams, and explanations from any chapter — in Uzbek, Russian, or English.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2103120"/>
            <a:ext cx="3566160" cy="39319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2103120"/>
            <a:ext cx="3566160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233172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3544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549640" y="32004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 timed exams, Elo-style topic mastery, weak-topic recommendations, daily challenges, leaderboards.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young, mobile-first country with a massive underserved exam-prep market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$420M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 + Kazakhstan + Kyrgyzstan school-age digital-learning spend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available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566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$160M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 secondary + abituriyent (1.2M students × $130 avg annual)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3-year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5029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$8M ARR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market share of paying segment by Year 3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217920" y="210312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Serve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user types with distinct jobs-to-be-done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students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5–11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between classes, daily challenges, gamified progress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Abituriyents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applicants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 mock exams, weak-topic mastery, scholarship preparation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 private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794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analytics, assignment grading, content authoring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centers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in Tashkent alone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663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student onboarding, white-label portal, results export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71600" y="5486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tutors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7160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educators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5532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content packs, paying student tracking, monetization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working as one connected learning loop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18745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91440" cy="187452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Library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PDF/DOCX/EPUB upload, OCR, chapter extraction, encrypted offline reading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3657600" cy="18745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103120"/>
            <a:ext cx="91440" cy="187452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Question Gen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MCQ, true/false, open-ended, flashcards in 3 languages with cited explanations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2103120"/>
            <a:ext cx="3657600" cy="18745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03120"/>
            <a:ext cx="91440" cy="187452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Exams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mocks, randomization, negative marking, server-authoritative anti-cheat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3657600" cy="18745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60520"/>
            <a:ext cx="91440" cy="187452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Assistant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8463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 scoped to user's library, citations, voice input, text-to-speech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4160520"/>
            <a:ext cx="3657600" cy="18745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4160520"/>
            <a:ext cx="91440" cy="187452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48463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Elo-style topic mastery, weak-topic dashboard, daily streak, AI recommendations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12480" y="4160520"/>
            <a:ext cx="3657600" cy="18745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4160520"/>
            <a:ext cx="91440" cy="187452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Tools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0" y="48463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Classrooms, join codes, assignments, exports, classroom-wide insights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Technology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book → embedding → retrieval → grounded generation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1783080" cy="13716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EPUB → Cloudflare R2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2286000"/>
            <a:ext cx="1783080" cy="13716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231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(uz/ru/en) + Google Vision fallback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286000"/>
            <a:ext cx="1783080" cy="13716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519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tokens, page-aware, 100-token overlap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2286000"/>
            <a:ext cx="1783080" cy="13716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807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→ Qdrant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18120" y="2286000"/>
            <a:ext cx="1783080" cy="13716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095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+ filter (book, topic, language)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46920" y="2286000"/>
            <a:ext cx="1783080" cy="13716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383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with citations to source chunks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guardrails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0292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02920" y="5349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generate 20 MCQ from a chapter (gpt-4o-mini)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30k / 500k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337560" y="5349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premium daily token cap per user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172200" y="5349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cached by content hash — re-uploads cost zero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0684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006840" y="5349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assistant response links back to book + page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subscription, AI credit top-ups, and B2B licensing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UZS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Ad-supported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490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practice Q/day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mock exam/week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2011680"/>
            <a:ext cx="2743200" cy="40233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29,000 UZS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 •  ~$2.30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03320" y="3611880"/>
            <a:ext cx="22860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37490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practice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mocks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AI gens / 100 chats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Ad-free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 Pro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99,000 UZS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 •  ~$7.90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361188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7490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classrooms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AI gens/mo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analytics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50 books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26880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5548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990k + 9k/student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554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 •  min 50 students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55480" y="361188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5480" y="37490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classes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onboarding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portal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revenue:  AI credit packs  •  Paid DTM mock events  •  Marketplace 70/30 split  •  Ads on free tier  •  Referral program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margin even at our deliberately low UZ price point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75488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48%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month 12 steady-state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120640"/>
            <a:ext cx="4206240" cy="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257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$15,780 MRR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5715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$8,180 monthly cost  •  Margin $7,600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669280" y="210312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Plan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200 MAU to 50,000 MAU in 12 months</a:t>
            </a:r>
            <a:endParaRPr lang="en-US" sz="1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0312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launch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Android live; 50 books seeded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3063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M6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1k MAU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users via Click/Payme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8096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8680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 MAU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86800" y="4343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paying  •  $1k MRR  •  Teacher panel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80960" y="4983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86800" y="4983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 MAU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0" y="5303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paying  •  $15k MRR  •  iOS live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weeks to MVP, 32 weeks to monetized scale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3657600" cy="548640"/>
          </a:xfrm>
          <a:prstGeom prst="rect">
            <a:avLst/>
          </a:prstGeom>
          <a:solidFill>
            <a:srgbClr val="131A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103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+ infra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on web + mobile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monitoring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+ Cloudflare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103120"/>
            <a:ext cx="3657600" cy="54864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2103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W3–14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63440" y="34290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pipeline + OCR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 generator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engine + streaks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Android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books seeded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210312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103120"/>
            <a:ext cx="3657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0" y="2103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W15–32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Monetize &amp; Scale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503920" y="34290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Payme payments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panel + classrooms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study assistant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launch + flashcards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paying users target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— $80/month infra serving the first 50,000 MAU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41148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(Next.js)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(Flutter)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63040" y="2834640"/>
            <a:ext cx="4114800" cy="4572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 •  CDN / WAF / R2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34747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Kotlin Ktor — Modular Monolith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4023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•  books  •  ai  •  exams  •  analytics  •  gamification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 •  billing  •  admin  •  notifications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63040" y="5120640"/>
            <a:ext cx="41148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5120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worker  •  OCR + chunk + embed + generate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011680"/>
            <a:ext cx="2468880" cy="11430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16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managed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2011680"/>
            <a:ext cx="2468880" cy="11430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queue + cache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337560"/>
            <a:ext cx="2468880" cy="11430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Qdrant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self-hosted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35440" y="3337560"/>
            <a:ext cx="2468880" cy="11430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Meilisearch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7260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In-book full-text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4663440"/>
            <a:ext cx="2468880" cy="11430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800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 R2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20840" y="5257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+ book PDFs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35440" y="4663440"/>
            <a:ext cx="2468880" cy="1143000"/>
          </a:xfrm>
          <a:prstGeom prst="rect">
            <a:avLst/>
          </a:prstGeom>
          <a:solidFill>
            <a:srgbClr val="131A4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4800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API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372600" y="5257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+ embeddings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channels, tuned for Uzbekistan's distribution reality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206240" y="2148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subject channels (Math DTM, Physics, etc.) + daily problem-of-the-day posts + sponsored placements in 100k+ student channels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Schools (B2B)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206240" y="3017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to top 50 Tashkent schools; teachers free; classroom analytics is the hook; one teacher reaches ~30 students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Influencer tutors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20624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Uzbek-language tutors on IG/TikTok; free Tutor Pro + revenue share; co-branded content packs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centers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206240" y="4754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private centers in Tashkent alone; B2B sales motion, founder-led until month 12; per-student licensing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48640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62356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5577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DTM season push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206240" y="5623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paid acquisition Feb–Jun (DTM application window); faculty-specific landing pages; free 30-day bootcamp upsell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localized, AI-native, exam-prep platform exists for Uzbek students today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1945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2286000"/>
            <a:ext cx="17373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 + Russian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2286000"/>
            <a:ext cx="17373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 gen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286000"/>
            <a:ext cx="1828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2286000"/>
            <a:ext cx="16459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38360" y="2286000"/>
            <a:ext cx="1828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mobile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2834640"/>
            <a:ext cx="219456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8920" y="2834640"/>
            <a:ext cx="173736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2834640"/>
            <a:ext cx="173736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2834640"/>
            <a:ext cx="18288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Payme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92440" y="2834640"/>
            <a:ext cx="164592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38360" y="2834640"/>
            <a:ext cx="18288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3291840"/>
            <a:ext cx="219456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88920" y="3291840"/>
            <a:ext cx="173736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26280" y="3291840"/>
            <a:ext cx="173736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3291840"/>
            <a:ext cx="182880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92440" y="3291840"/>
            <a:ext cx="164592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738360" y="3291840"/>
            <a:ext cx="182880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2980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4360" y="374904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88920" y="37490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036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26280" y="37490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63640" y="37490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92440" y="374904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8388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738360" y="37490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2980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94360" y="4206240"/>
            <a:ext cx="219456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Quizlet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788920" y="4206240"/>
            <a:ext cx="173736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8036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526280" y="4206240"/>
            <a:ext cx="173736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263640" y="4206240"/>
            <a:ext cx="182880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092440" y="4206240"/>
            <a:ext cx="164592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8388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738360" y="4206240"/>
            <a:ext cx="182880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2980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94360" y="466344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" y="4663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PDF channels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788920" y="46634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80360" y="4663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526280" y="46634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17720" y="4663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263640" y="46634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55080" y="4663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092440" y="466344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8388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9738360" y="46634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29800" y="4663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94360" y="5120640"/>
            <a:ext cx="219456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5800" y="5120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tutors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788920" y="5120640"/>
            <a:ext cx="173736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80360" y="5120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526280" y="5120640"/>
            <a:ext cx="173736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17720" y="5120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263640" y="5120640"/>
            <a:ext cx="182880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55080" y="5120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092440" y="5120640"/>
            <a:ext cx="164592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83880" y="5120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9738360" y="5120640"/>
            <a:ext cx="1828800" cy="457200"/>
          </a:xfrm>
          <a:prstGeom prst="rect">
            <a:avLst/>
          </a:prstGeom>
          <a:solidFill>
            <a:srgbClr val="F8F9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829800" y="5120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Uzbek-language RAG question bank + DTM-specific exam simulation + local payment depth + school distribution.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TestMarkaz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Hiring Plan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Solo-founder build, deliberate hiring as milestones land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Jakha Mannonov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product end-to-end. Will write the first 10k lines of Kotlin, Next.js, and Flutter; recruits content lead by month 4.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 plan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Pre-launch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42976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(project rate)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 one-time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47091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lead — curate books + DTM exam bank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$1k/mo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51206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engineer (Flutter)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0" y="5120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$1.5k/mo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55321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 (Kotlin) — after $5k MRR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5532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$1.8k/mo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59436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/ B2B sales lead for learning centers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0" y="5943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$1.5k/mo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round: $250,000 for 18 months of runway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mobile dev (M6), backend dev (M9)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infra — OpenAI credits, Cloudflare, observability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0312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— Telegram, influencers, DTM-season paid ads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03120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lead + book licensing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103120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4983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accounting, IT-Park registration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5852160"/>
            <a:ext cx="10332720" cy="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18-month milestone:  50,000 MAU  •  $20k MRR  •  Profitability  •  Series A ready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TestMarkaz — Pitch Deck</dc:title>
  <dc:subject>PptxGenJS Presentation</dc:subject>
  <dc:creator>TestMarkaz</dc:creator>
  <cp:lastModifiedBy>TestMarkaz</cp:lastModifiedBy>
  <cp:revision>1</cp:revision>
  <dcterms:created xsi:type="dcterms:W3CDTF">2026-05-22T02:54:01Z</dcterms:created>
  <dcterms:modified xsi:type="dcterms:W3CDTF">2026-05-22T02:54:01Z</dcterms:modified>
</cp:coreProperties>
</file>